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400" b="1">
                <a:solidFill>
                  <a:srgbClr val="38BDF8"/>
                </a:solidFill>
                <a:latin typeface="Consolas"/>
              </a:defRPr>
            </a:pPr>
            <a:r>
              <a:t>PROJECT 2: SECURE MESSAGING WITH DIGITAL SIGNATURES</a:t>
            </a:r>
          </a:p>
          <a:p>
            <a:pPr>
              <a:spcAft>
                <a:spcPts val="2400"/>
              </a:spcAft>
              <a:defRPr sz="2000">
                <a:solidFill>
                  <a:srgbClr val="F1F5F9"/>
                </a:solidFill>
                <a:latin typeface="Calibri"/>
              </a:defRPr>
            </a:pPr>
            <a:r>
              <a:t>Ed25519 (RFC 8032) Authenticity, AES-256-GCM Encrypt-then-Sign &amp; Active MITM Attack Evaluation</a:t>
            </a:r>
          </a:p>
          <a:p>
            <a:pPr>
              <a:defRPr sz="1500">
                <a:solidFill>
                  <a:srgbClr val="4ADE80"/>
                </a:solidFill>
                <a:latin typeface="Consolas"/>
              </a:defRPr>
            </a:pPr>
            <a:r>
              <a:t>Stack: Python 3.10+ | cryptography (OpenSSL Hazmat) | Rich CLI Sandbox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onsolas"/>
              </a:defRPr>
            </a:pPr>
            <a:r>
              <a:t>1. System Architecture &amp; Primitive Selection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Why Ed25519 (RFC 8032) + AES-256-GCM over Legacy RSA / ECDSA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ADE80"/>
                </a:solidFill>
                <a:latin typeface="Consolas"/>
              </a:defRPr>
            </a:pPr>
            <a:r>
              <a:t>Why Ed25519 Digital Signatures?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128-Bit Security Level: Equivalent to 3072-bit RSA with compact 32-byte public keys and 64-byte signatures.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Deterministic Nonce (No k-Reuse Bug): Derives r = SHA-512(prefix || M) mod L, eliminating RNG failures like the Sony PS3 ECDSA breach.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Side-Channel Resistance: Twisted Edwards complete addition formulas prevent branch/timing leaks.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Verification Equation: Checks [S]B = R + [k]A where k = SHA-512(R || A || M) mod 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BDF8"/>
                </a:solidFill>
                <a:latin typeface="Consolas"/>
              </a:defRPr>
            </a:pPr>
            <a:r>
              <a:t>3-Layer Modular Codebase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crypto_core.py: Ed25519 KeyGen/Sign/Verify, AES-256-GCM Encrypt-then-Sign, SHA-256 Fingerprint Directory, Replay Cache.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experiments.py: Automated Dolev-Yao MITM attack testbed covering Baseline + 5 security experiments &amp; JSON/PUB artifact exporter.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app.py: Interactive Rich CLI simulator with live Attacker Sandbox (Tamper, Bit-Flip, Impersonate, Key-Swap, Replay).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Strict Key Hygiene: Ephemeral RAM private keys; .gitignore blocks *.pem while tracking *.pub.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onsolas"/>
              </a:defRPr>
            </a:pPr>
            <a:r>
              <a:t>2. Wire Envelope Schema &amp; Canonical Serialization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Binding Metadata Inside the Cryptographic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ADE80"/>
                </a:solidFill>
                <a:latin typeface="Consolas"/>
              </a:defRPr>
            </a:pPr>
            <a:r>
              <a:t>Deterministic JSON Canonicalization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Ed25519 signs raw byte arrays, not abstract dictionaries.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Rule: json.dumps(envelope, sort_keys=True, separators=(',', ':')).encode('utf-8')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Lexicographically sorts keys and strips whitespace so Alice and Bob hash the exact same byte sequence.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Strict Verification Order: (1) Packet Schema -&gt; (2) SHA-256 Key Fingerprint -&gt; (3) Ed25519 Signature -&gt; (4) Replay Counter/Timestamp -&gt; (5) AES-GCM Decrypt.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87171"/>
                </a:solidFill>
                <a:latin typeface="Consolas"/>
              </a:defRPr>
            </a:pPr>
            <a:r>
              <a:t>Why Metadata MUST Be Inside the Signed Envelope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sender &amp; recipient: Prevents Surreptitious Forwarding / Unknown Key-Share routing tampering.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counter, timestamp, msg_id: Prevents an attacker from incrementing the counter on a captured packet to bypass replay detection.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encrypted &amp; nonce: Prevents downgrade attacks or GCM IV manipulation prior to signature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onsolas"/>
              </a:defRPr>
            </a:pPr>
            <a:r>
              <a:t>3. Baseline Test: Authentic Signed Exchange (exp0)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Normal Alice -&gt; Bob Signing &amp; Verification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ADE80"/>
                </a:solidFill>
                <a:latin typeface="Consolas"/>
              </a:defRPr>
            </a:pPr>
            <a:r>
              <a:t>Baseline Verification Pipeline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Hypothesis: An unmodified packet signed by Alice's Ed25519 private key passes all checks.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1. Bob fetches Alice's public key and verifies SHA-256(PK_Alice) against trusted out-of-band fingerprint.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2. Reconstructs canonical envelope bytes and verifies 64-byte Ed25519 signature.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3. Checks counter &gt; last_counter and |now - timestamp| &lt;= 300s.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Result: valid=True, status_code='SUCCESS'.</a:t>
            </a:r>
          </a:p>
        </p:txBody>
      </p:sp>
      <p:pic>
        <p:nvPicPr>
          <p:cNvPr id="4" name="Picture 3" descr="01_normal_ex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126480" cy="32858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onsolas"/>
              </a:defRPr>
            </a:pPr>
            <a:r>
              <a:t>4. Experiment 1A: Payload Tampering in Transit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MITM Modifies Message Text Without Re-Signing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87171"/>
                </a:solidFill>
                <a:latin typeface="Consolas"/>
              </a:defRPr>
            </a:pPr>
            <a:r>
              <a:t>Attack &amp; Cryptographic Proof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Attack: Mallory intercepts Alice's packet and alters payload ('Auth payment of $99999 to Mallory') without Alice's private key.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Observed Result: REJECTED (status_code='INVALID_SIGNATURE', plaintext=None).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Math Explanation: Modifying 1 byte changes canonical M -&gt; M'. By the SHA-512 avalanche effect, ~50% of bits flip in k' = SHA-512(R || A || M').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Thus [S]B != R + [k']A on Curve25519.</a:t>
            </a:r>
          </a:p>
        </p:txBody>
      </p:sp>
      <p:pic>
        <p:nvPicPr>
          <p:cNvPr id="4" name="Picture 3" descr="02_tampering_rej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126480" cy="32161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onsolas"/>
              </a:defRPr>
            </a:pPr>
            <a:r>
              <a:t>5. Experiment 1B: Signature Bit-Flip Corruption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MITM Flips 1 Byte (XOR 0xFF) in the 64-Byte Ed25519 Signature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87171"/>
                </a:solidFill>
                <a:latin typeface="Consolas"/>
              </a:defRPr>
            </a:pPr>
            <a:r>
              <a:t>Attack &amp; Cryptographic Proof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Attack: Payload remains untouched, but Mallory flips byte 0 (XOR 0xFF) of the 64-byte signature.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Observed Result: REJECTED (status_code='INVALID_SIGNATURE').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Math Explanation: The 64-byte signature encodes curve point R (32B) and scalar S (32B).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Corrupting byte 0 mutates R -&gt; R', breaking the verification equality [S]B = R' + [k]A.</a:t>
            </a:r>
          </a:p>
        </p:txBody>
      </p:sp>
      <p:pic>
        <p:nvPicPr>
          <p:cNvPr id="4" name="Picture 3" descr="02b_corrupted_signature_rej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126480" cy="33721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onsolas"/>
              </a:defRPr>
            </a:pPr>
            <a:r>
              <a:t>6. Experiment 2: Sender Impersonation Attempt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Mallory Signs Envelope with SK_Mallory While Claiming 'sender': 'Alice'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87171"/>
                </a:solidFill>
                <a:latin typeface="Consolas"/>
              </a:defRPr>
            </a:pPr>
            <a:r>
              <a:t>Attack &amp; Cryptographic Proof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Attack: Mallory sets envelope['sender'] = 'Alice' ('Send production SSH pvt key...') and signs with Mallory's own private key.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Observed Result: REJECTED (status_code='INVALID_SIGNATURE').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Math Explanation: Ed25519 is EUF-CMA secure under the Elliptic Curve Discrete Logarithm Problem (ECDLP).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Mallory's signature satisfies [S]B = R + [k]A_Mallory, which fails when Bob verifies against A_Alice.</a:t>
            </a:r>
          </a:p>
        </p:txBody>
      </p:sp>
      <p:pic>
        <p:nvPicPr>
          <p:cNvPr id="4" name="Picture 3" descr="03_impersonation_rej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126480" cy="3323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onsolas"/>
              </a:defRPr>
            </a:pPr>
            <a:r>
              <a:t>7. Experiment 3: Public-Key Substitution Attack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Directory Poisoning vs. Out-of-Band SHA-256 Fingerprint Pinning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87171"/>
                </a:solidFill>
                <a:latin typeface="Consolas"/>
              </a:defRPr>
            </a:pPr>
            <a:r>
              <a:t>The Trust Bootstrap Problem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Attack: Mallory overwrites Alice's public key in PublicKeyDirectory with PK_Mallory and signs wire transfer command.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Part A (verify_key_fingerprint=False): Bob blindly trusts directory -&gt; ACCEPTED (VULNERABLE!).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Part B (verify_key_fingerprint=True): Bob compares SHA-256(PK_Directory) against pinned out-of-band fingerprint.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Result: REJECTED (status_code='KEY_SUBSTITUTION_DETECTED').</a:t>
            </a:r>
          </a:p>
        </p:txBody>
      </p:sp>
      <p:pic>
        <p:nvPicPr>
          <p:cNvPr id="4" name="Picture 3" descr="04_key_substit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126480" cy="36194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onsolas"/>
              </a:defRPr>
            </a:pPr>
            <a:r>
              <a:t>8. Experiment 4: Confidentiality &amp; AES-256-GCM Extension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Why Signatures Alone Expose Plaintext &amp; How Encrypt-then-Sign Fixes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ADE80"/>
                </a:solidFill>
                <a:latin typeface="Consolas"/>
              </a:defRPr>
            </a:pPr>
            <a:r>
              <a:t>Encrypt-then-Sign (EtS) Architecture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Part A (Signature Only): Eavesdropper reads 'payload' in cleartext JSON on the wire.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Part B (AES-256-GCM + Ed25519): Plaintext encrypted with 256-bit key &amp; 96-bit random nonce before signing.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Wire shows only Base64 ciphertext + nonce (IND-CPA secure).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Bob verifies outer Ed25519 signature FIRST, then decrypts AES-GCM payload -&gt; VALID (SUCCESS).</a:t>
            </a:r>
          </a:p>
        </p:txBody>
      </p:sp>
      <p:pic>
        <p:nvPicPr>
          <p:cNvPr id="4" name="Picture 3" descr="05_confidentiality_aesg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126480" cy="3232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onsolas"/>
              </a:defRPr>
            </a:pPr>
            <a:r>
              <a:t>9. Experiment 5: Replay Attack &amp; Counter Defense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Stateful Sequence Tracking &amp; Signed Counter Binding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87171"/>
                </a:solidFill>
                <a:latin typeface="Consolas"/>
              </a:defRPr>
            </a:pPr>
            <a:r>
              <a:t>3-Part Replay Evaluation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Attack: Mallory captures a valid signed packet (counter=2) and retransmits it to Bob.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Part A (Defense OFF): Accepted a second time (VULNERABLE!).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Part B (Defense ON): Bob checks seen_messages &amp; counter &lt;= last_counter -&gt; REJECTED ('REPLAY_DETECTED').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Part C (Counter Tampering): Mallory increments counter += 1 without SK_Alice -&gt; REJECTED ('INVALID_SIGNATURE').</a:t>
            </a:r>
          </a:p>
        </p:txBody>
      </p:sp>
      <p:pic>
        <p:nvPicPr>
          <p:cNvPr id="4" name="Picture 3" descr="06_replay_def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126480" cy="34080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onsolas"/>
              </a:defRPr>
            </a:pPr>
            <a:r>
              <a:t>10. Core Cryptographic Design Takeaways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Key Answers to Syllabus Security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BDF8"/>
                </a:solidFill>
                <a:latin typeface="Consolas"/>
              </a:defRPr>
            </a:pPr>
            <a:r>
              <a:t>1. Authenticity vs. Confidentiality &amp; Trust Models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Signatures != Encryption: Verify(PK, M, sig) requires M in cleartext; AES-256-GCM provides confidentiality while Ed25519 provides non-repudiation.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Why EtS Order? Signing the ciphertext prevents attackers from feeding unauthenticated ciphertexts into the AES-GCM decryption routine.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Trust Scaling: OOB Fingerprints (high security, O(N^2) manual effort) -&gt; X.509 PKI CAs (O(N) scalable, single point of compromise) -&gt; Key Transparency (append-only Merkle Tree logs).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ADE80"/>
                </a:solidFill>
                <a:latin typeface="Consolas"/>
              </a:defRPr>
            </a:pPr>
            <a:r>
              <a:t>2. Replay Defense State &amp; Sync Trade-Offs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Monotonic Counters: O(1) memory per sender, but sensitive to out-of-order network delivery unless paired with a sliding window bitmap.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UUIDv4 Nonces (msg_id): Tolerates out-of-order packets effortlessly, but requires O(M) cache memory growth unless bounded by TTL.</a:t>
            </a:r>
          </a:p>
          <a:p>
            <a:pPr>
              <a:spcAft>
                <a:spcPts val="6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• UTC Timestamps (300s Window): Bounds nonce cache memory, but requires secure NTP clock synchronization to avoid clock-skew 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